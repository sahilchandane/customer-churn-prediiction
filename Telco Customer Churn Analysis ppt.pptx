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29CFFE-4ACB-44F7-B0A3-D1073A531A39}" v="21" dt="2026-06-19T05:57:04.2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AD795-90AD-4FBD-9A6F-6F3C98131FEF}"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AD904F-F450-4CF7-ABCB-E9EE33369B6C}" type="slidenum">
              <a:rPr lang="en-US" smtClean="0"/>
              <a:t>‹#›</a:t>
            </a:fld>
            <a:endParaRPr lang="en-US"/>
          </a:p>
        </p:txBody>
      </p:sp>
    </p:spTree>
    <p:extLst>
      <p:ext uri="{BB962C8B-B14F-4D97-AF65-F5344CB8AC3E}">
        <p14:creationId xmlns:p14="http://schemas.microsoft.com/office/powerpoint/2010/main" val="32389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AD904F-F450-4CF7-ABCB-E9EE33369B6C}" type="slidenum">
              <a:rPr lang="en-US" smtClean="0"/>
              <a:t>8</a:t>
            </a:fld>
            <a:endParaRPr lang="en-US"/>
          </a:p>
        </p:txBody>
      </p:sp>
    </p:spTree>
    <p:extLst>
      <p:ext uri="{BB962C8B-B14F-4D97-AF65-F5344CB8AC3E}">
        <p14:creationId xmlns:p14="http://schemas.microsoft.com/office/powerpoint/2010/main" val="4271368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6/24/2026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6/24/2026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6/24/2026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6/24/2026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6/24/2026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6/24/2026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6/24/2026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6/24/2026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6/24/2026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6/24/2026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6/24/2026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6/24/2026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77935-8CE5-7BA9-1C0D-90CF1E73C771}"/>
              </a:ext>
            </a:extLst>
          </p:cNvPr>
          <p:cNvSpPr>
            <a:spLocks noGrp="1"/>
          </p:cNvSpPr>
          <p:nvPr>
            <p:ph type="ctrTitle"/>
          </p:nvPr>
        </p:nvSpPr>
        <p:spPr>
          <a:xfrm>
            <a:off x="2326640" y="1188720"/>
            <a:ext cx="5894674" cy="2743200"/>
          </a:xfrm>
        </p:spPr>
        <p:txBody>
          <a:bodyPr>
            <a:normAutofit/>
          </a:bodyPr>
          <a:lstStyle/>
          <a:p>
            <a:pPr algn="ctr"/>
            <a:r>
              <a:rPr lang="en-US" b="1" dirty="0">
                <a:latin typeface="Times New Roman" panose="02020603050405020304" pitchFamily="18" charset="0"/>
                <a:cs typeface="Times New Roman" panose="02020603050405020304" pitchFamily="18" charset="0"/>
              </a:rPr>
              <a:t>Telco Customer Churn Analysis Dashboard</a:t>
            </a:r>
          </a:p>
        </p:txBody>
      </p:sp>
      <p:sp>
        <p:nvSpPr>
          <p:cNvPr id="3" name="Subtitle 2">
            <a:extLst>
              <a:ext uri="{FF2B5EF4-FFF2-40B4-BE49-F238E27FC236}">
                <a16:creationId xmlns:a16="http://schemas.microsoft.com/office/drawing/2014/main" id="{DE6D6193-4EB6-D79C-C640-B1AB4D6F2DEF}"/>
              </a:ext>
            </a:extLst>
          </p:cNvPr>
          <p:cNvSpPr>
            <a:spLocks noGrp="1"/>
          </p:cNvSpPr>
          <p:nvPr>
            <p:ph type="subTitle" idx="1"/>
          </p:nvPr>
        </p:nvSpPr>
        <p:spPr>
          <a:xfrm>
            <a:off x="2595177" y="4351586"/>
            <a:ext cx="5357600" cy="1160213"/>
          </a:xfrm>
        </p:spPr>
        <p:txBody>
          <a:bodyPr>
            <a:normAutofit/>
          </a:bodyPr>
          <a:lstStyle/>
          <a:p>
            <a:pPr algn="l"/>
            <a:r>
              <a:rPr lang="en-US" sz="2800" dirty="0">
                <a:latin typeface="Times New Roman" panose="02020603050405020304" pitchFamily="18" charset="0"/>
                <a:cs typeface="Times New Roman" panose="02020603050405020304" pitchFamily="18" charset="0"/>
              </a:rPr>
              <a:t>By Sahil Chandane</a:t>
            </a:r>
          </a:p>
        </p:txBody>
      </p:sp>
    </p:spTree>
    <p:extLst>
      <p:ext uri="{BB962C8B-B14F-4D97-AF65-F5344CB8AC3E}">
        <p14:creationId xmlns:p14="http://schemas.microsoft.com/office/powerpoint/2010/main" val="372142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5E56-EF79-1C12-AA82-DDC2C5EC413A}"/>
              </a:ext>
            </a:extLst>
          </p:cNvPr>
          <p:cNvSpPr>
            <a:spLocks noGrp="1"/>
          </p:cNvSpPr>
          <p:nvPr>
            <p:ph type="title"/>
          </p:nvPr>
        </p:nvSpPr>
        <p:spPr>
          <a:xfrm>
            <a:off x="1422400" y="284480"/>
            <a:ext cx="9519920" cy="6421120"/>
          </a:xfrm>
        </p:spPr>
        <p:txBody>
          <a:bodyPr>
            <a:noAutofit/>
          </a:bodyPr>
          <a:lstStyle/>
          <a:p>
            <a:pPr marL="342900" indent="-342900" algn="l">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Buisness</a:t>
            </a:r>
            <a:r>
              <a:rPr lang="en-US" sz="3200" b="1" dirty="0">
                <a:latin typeface="Times New Roman" panose="02020603050405020304" pitchFamily="18" charset="0"/>
                <a:cs typeface="Times New Roman" panose="02020603050405020304" pitchFamily="18" charset="0"/>
              </a:rPr>
              <a:t> Problem</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telecom industry faces intense competition, making customer retention a critical factor for sustained growth and profitability. Acquiring new customers is significantly more expensive than retaining existing ones. Therefore, understanding why customers leave the company (customer churn) is essential for improving business performance.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Problem Statement</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company is experiencing a customer churn rate of 26.54%, meaning that a substantial portion of customers are discontinuing services. This customer loss directly impacts revenue, customer lifetime value, and overall business growth.</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Management lacks clear visibility into:</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1.Which customer segments are most likely to churn.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2.What factors influence customer attrition.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3.How customer demographics, contract types, payment methods, tenure, and service usage affect churn behavior. </a:t>
            </a:r>
            <a:br>
              <a:rPr lang="en-US" sz="2000" dirty="0">
                <a:latin typeface="Times New Roman" panose="02020603050405020304" pitchFamily="18" charset="0"/>
                <a:cs typeface="Times New Roman" panose="02020603050405020304" pitchFamily="18" charset="0"/>
              </a:rPr>
            </a:br>
            <a:r>
              <a:rPr lang="en-US" sz="2000">
                <a:latin typeface="Times New Roman" panose="02020603050405020304" pitchFamily="18" charset="0"/>
                <a:cs typeface="Times New Roman" panose="02020603050405020304" pitchFamily="18" charset="0"/>
              </a:rPr>
              <a:t>  4</a:t>
            </a:r>
            <a:r>
              <a:rPr lang="en-US" sz="2000" dirty="0">
                <a:latin typeface="Times New Roman" panose="02020603050405020304" pitchFamily="18" charset="0"/>
                <a:cs typeface="Times New Roman" panose="02020603050405020304" pitchFamily="18" charset="0"/>
              </a:rPr>
              <a:t>.What actions can be implemented to improve customer retention.</a:t>
            </a:r>
            <a:br>
              <a:rPr lang="en-US" sz="2000" dirty="0"/>
            </a:br>
            <a:endParaRPr lang="en-US" sz="2000" b="1" dirty="0"/>
          </a:p>
        </p:txBody>
      </p:sp>
    </p:spTree>
    <p:extLst>
      <p:ext uri="{BB962C8B-B14F-4D97-AF65-F5344CB8AC3E}">
        <p14:creationId xmlns:p14="http://schemas.microsoft.com/office/powerpoint/2010/main" val="1557762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5E32A-554F-A777-A506-F4765BC0113E}"/>
              </a:ext>
            </a:extLst>
          </p:cNvPr>
          <p:cNvSpPr>
            <a:spLocks noGrp="1"/>
          </p:cNvSpPr>
          <p:nvPr>
            <p:ph type="title"/>
          </p:nvPr>
        </p:nvSpPr>
        <p:spPr>
          <a:xfrm>
            <a:off x="1828800" y="1351280"/>
            <a:ext cx="8961120" cy="5364480"/>
          </a:xfrm>
        </p:spPr>
        <p:txBody>
          <a:bodyPr/>
          <a:lstStyle/>
          <a:p>
            <a:pPr algn="l"/>
            <a:endParaRPr lang="en-US" dirty="0"/>
          </a:p>
        </p:txBody>
      </p:sp>
      <p:sp>
        <p:nvSpPr>
          <p:cNvPr id="3" name="Text Placeholder 2">
            <a:extLst>
              <a:ext uri="{FF2B5EF4-FFF2-40B4-BE49-F238E27FC236}">
                <a16:creationId xmlns:a16="http://schemas.microsoft.com/office/drawing/2014/main" id="{908EA30D-803F-C168-8E67-13E7C9D4D13A}"/>
              </a:ext>
            </a:extLst>
          </p:cNvPr>
          <p:cNvSpPr>
            <a:spLocks noGrp="1"/>
          </p:cNvSpPr>
          <p:nvPr>
            <p:ph type="body" idx="1"/>
          </p:nvPr>
        </p:nvSpPr>
        <p:spPr>
          <a:xfrm>
            <a:off x="2438688" y="297746"/>
            <a:ext cx="7791931" cy="878468"/>
          </a:xfrm>
        </p:spPr>
        <p:txBody>
          <a:bodyPr>
            <a:normAutofit/>
          </a:bodyPr>
          <a:lstStyle/>
          <a:p>
            <a:pPr algn="ctr"/>
            <a:r>
              <a:rPr lang="en-US" sz="3200" b="1" dirty="0">
                <a:latin typeface="Times New Roman" panose="02020603050405020304" pitchFamily="18" charset="0"/>
                <a:cs typeface="Times New Roman" panose="02020603050405020304" pitchFamily="18" charset="0"/>
              </a:rPr>
              <a:t>Dataset Overview</a:t>
            </a:r>
          </a:p>
        </p:txBody>
      </p:sp>
      <p:graphicFrame>
        <p:nvGraphicFramePr>
          <p:cNvPr id="4" name="Table 3">
            <a:extLst>
              <a:ext uri="{FF2B5EF4-FFF2-40B4-BE49-F238E27FC236}">
                <a16:creationId xmlns:a16="http://schemas.microsoft.com/office/drawing/2014/main" id="{73C5876A-1128-8986-7284-298ACAD52372}"/>
              </a:ext>
            </a:extLst>
          </p:cNvPr>
          <p:cNvGraphicFramePr>
            <a:graphicFrameLocks noGrp="1"/>
          </p:cNvGraphicFramePr>
          <p:nvPr>
            <p:extLst>
              <p:ext uri="{D42A27DB-BD31-4B8C-83A1-F6EECF244321}">
                <p14:modId xmlns:p14="http://schemas.microsoft.com/office/powerpoint/2010/main" val="2743533004"/>
              </p:ext>
            </p:extLst>
          </p:nvPr>
        </p:nvGraphicFramePr>
        <p:xfrm>
          <a:off x="1828800" y="1351280"/>
          <a:ext cx="8961120" cy="5081576"/>
        </p:xfrm>
        <a:graphic>
          <a:graphicData uri="http://schemas.openxmlformats.org/drawingml/2006/table">
            <a:tbl>
              <a:tblPr firstRow="1" bandRow="1">
                <a:tableStyleId>{5C22544A-7EE6-4342-B048-85BDC9FD1C3A}</a:tableStyleId>
              </a:tblPr>
              <a:tblGrid>
                <a:gridCol w="4480560">
                  <a:extLst>
                    <a:ext uri="{9D8B030D-6E8A-4147-A177-3AD203B41FA5}">
                      <a16:colId xmlns:a16="http://schemas.microsoft.com/office/drawing/2014/main" val="3521540436"/>
                    </a:ext>
                  </a:extLst>
                </a:gridCol>
                <a:gridCol w="4480560">
                  <a:extLst>
                    <a:ext uri="{9D8B030D-6E8A-4147-A177-3AD203B41FA5}">
                      <a16:colId xmlns:a16="http://schemas.microsoft.com/office/drawing/2014/main" val="1371882986"/>
                    </a:ext>
                  </a:extLst>
                </a:gridCol>
              </a:tblGrid>
              <a:tr h="520897">
                <a:tc>
                  <a:txBody>
                    <a:bodyPr/>
                    <a:lstStyle/>
                    <a:p>
                      <a:r>
                        <a:rPr lang="en-US" dirty="0">
                          <a:latin typeface="Times New Roman" panose="02020603050405020304" pitchFamily="18" charset="0"/>
                          <a:cs typeface="Times New Roman" panose="02020603050405020304" pitchFamily="18" charset="0"/>
                        </a:rPr>
                        <a:t>Data</a:t>
                      </a:r>
                    </a:p>
                  </a:txBody>
                  <a:tcPr/>
                </a:tc>
                <a:tc>
                  <a:txBody>
                    <a:bodyPr/>
                    <a:lstStyle/>
                    <a:p>
                      <a:r>
                        <a:rPr lang="en-US" dirty="0">
                          <a:latin typeface="Times New Roman" panose="02020603050405020304" pitchFamily="18" charset="0"/>
                          <a:cs typeface="Times New Roman" panose="02020603050405020304" pitchFamily="18" charset="0"/>
                        </a:rPr>
                        <a:t>Value</a:t>
                      </a:r>
                    </a:p>
                  </a:txBody>
                  <a:tcPr/>
                </a:tc>
                <a:extLst>
                  <a:ext uri="{0D108BD9-81ED-4DB2-BD59-A6C34878D82A}">
                    <a16:rowId xmlns:a16="http://schemas.microsoft.com/office/drawing/2014/main" val="1624596626"/>
                  </a:ext>
                </a:extLst>
              </a:tr>
              <a:tr h="520897">
                <a:tc>
                  <a:txBody>
                    <a:bodyPr/>
                    <a:lstStyle/>
                    <a:p>
                      <a:r>
                        <a:rPr lang="en-US" dirty="0">
                          <a:latin typeface="Times New Roman" panose="02020603050405020304" pitchFamily="18" charset="0"/>
                          <a:cs typeface="Times New Roman" panose="02020603050405020304" pitchFamily="18" charset="0"/>
                        </a:rPr>
                        <a:t>Customer count</a:t>
                      </a:r>
                    </a:p>
                  </a:txBody>
                  <a:tcPr/>
                </a:tc>
                <a:tc>
                  <a:txBody>
                    <a:bodyPr/>
                    <a:lstStyle/>
                    <a:p>
                      <a:r>
                        <a:rPr lang="en-US" dirty="0">
                          <a:latin typeface="Times New Roman" panose="02020603050405020304" pitchFamily="18" charset="0"/>
                          <a:cs typeface="Times New Roman" panose="02020603050405020304" pitchFamily="18" charset="0"/>
                        </a:rPr>
                        <a:t>7043</a:t>
                      </a:r>
                    </a:p>
                  </a:txBody>
                  <a:tcPr/>
                </a:tc>
                <a:extLst>
                  <a:ext uri="{0D108BD9-81ED-4DB2-BD59-A6C34878D82A}">
                    <a16:rowId xmlns:a16="http://schemas.microsoft.com/office/drawing/2014/main" val="3475961158"/>
                  </a:ext>
                </a:extLst>
              </a:tr>
              <a:tr h="520897">
                <a:tc>
                  <a:txBody>
                    <a:bodyPr/>
                    <a:lstStyle/>
                    <a:p>
                      <a:r>
                        <a:rPr lang="en-US" dirty="0">
                          <a:latin typeface="Times New Roman" panose="02020603050405020304" pitchFamily="18" charset="0"/>
                          <a:cs typeface="Times New Roman" panose="02020603050405020304" pitchFamily="18" charset="0"/>
                        </a:rPr>
                        <a:t>Total customer churned</a:t>
                      </a:r>
                    </a:p>
                  </a:txBody>
                  <a:tcPr/>
                </a:tc>
                <a:tc>
                  <a:txBody>
                    <a:bodyPr/>
                    <a:lstStyle/>
                    <a:p>
                      <a:r>
                        <a:rPr lang="en-US" dirty="0">
                          <a:latin typeface="Times New Roman" panose="02020603050405020304" pitchFamily="18" charset="0"/>
                          <a:cs typeface="Times New Roman" panose="02020603050405020304" pitchFamily="18" charset="0"/>
                        </a:rPr>
                        <a:t>1869</a:t>
                      </a:r>
                    </a:p>
                  </a:txBody>
                  <a:tcPr/>
                </a:tc>
                <a:extLst>
                  <a:ext uri="{0D108BD9-81ED-4DB2-BD59-A6C34878D82A}">
                    <a16:rowId xmlns:a16="http://schemas.microsoft.com/office/drawing/2014/main" val="236924029"/>
                  </a:ext>
                </a:extLst>
              </a:tr>
              <a:tr h="520897">
                <a:tc>
                  <a:txBody>
                    <a:bodyPr/>
                    <a:lstStyle/>
                    <a:p>
                      <a:r>
                        <a:rPr lang="en-US" dirty="0">
                          <a:latin typeface="Times New Roman" panose="02020603050405020304" pitchFamily="18" charset="0"/>
                          <a:cs typeface="Times New Roman" panose="02020603050405020304" pitchFamily="18" charset="0"/>
                        </a:rPr>
                        <a:t>Churn rate</a:t>
                      </a:r>
                    </a:p>
                  </a:txBody>
                  <a:tcPr/>
                </a:tc>
                <a:tc>
                  <a:txBody>
                    <a:bodyPr/>
                    <a:lstStyle/>
                    <a:p>
                      <a:r>
                        <a:rPr lang="en-US" dirty="0">
                          <a:latin typeface="Times New Roman" panose="02020603050405020304" pitchFamily="18" charset="0"/>
                          <a:cs typeface="Times New Roman" panose="02020603050405020304" pitchFamily="18" charset="0"/>
                        </a:rPr>
                        <a:t>26.54</a:t>
                      </a:r>
                    </a:p>
                  </a:txBody>
                  <a:tcPr/>
                </a:tc>
                <a:extLst>
                  <a:ext uri="{0D108BD9-81ED-4DB2-BD59-A6C34878D82A}">
                    <a16:rowId xmlns:a16="http://schemas.microsoft.com/office/drawing/2014/main" val="639725359"/>
                  </a:ext>
                </a:extLst>
              </a:tr>
              <a:tr h="520897">
                <a:tc>
                  <a:txBody>
                    <a:bodyPr/>
                    <a:lstStyle/>
                    <a:p>
                      <a:r>
                        <a:rPr lang="en-US" dirty="0">
                          <a:latin typeface="Times New Roman" panose="02020603050405020304" pitchFamily="18" charset="0"/>
                          <a:cs typeface="Times New Roman" panose="02020603050405020304" pitchFamily="18" charset="0"/>
                        </a:rPr>
                        <a:t>Total monthly revenue</a:t>
                      </a:r>
                    </a:p>
                  </a:txBody>
                  <a:tcPr/>
                </a:tc>
                <a:tc>
                  <a:txBody>
                    <a:bodyPr/>
                    <a:lstStyle/>
                    <a:p>
                      <a:r>
                        <a:rPr lang="en-US" dirty="0">
                          <a:latin typeface="Times New Roman" panose="02020603050405020304" pitchFamily="18" charset="0"/>
                          <a:cs typeface="Times New Roman" panose="02020603050405020304" pitchFamily="18" charset="0"/>
                        </a:rPr>
                        <a:t>456k</a:t>
                      </a:r>
                    </a:p>
                  </a:txBody>
                  <a:tcPr/>
                </a:tc>
                <a:extLst>
                  <a:ext uri="{0D108BD9-81ED-4DB2-BD59-A6C34878D82A}">
                    <a16:rowId xmlns:a16="http://schemas.microsoft.com/office/drawing/2014/main" val="4095026774"/>
                  </a:ext>
                </a:extLst>
              </a:tr>
              <a:tr h="520897">
                <a:tc>
                  <a:txBody>
                    <a:bodyPr/>
                    <a:lstStyle/>
                    <a:p>
                      <a:r>
                        <a:rPr lang="en-US" dirty="0" err="1">
                          <a:latin typeface="Times New Roman" panose="02020603050405020304" pitchFamily="18" charset="0"/>
                          <a:cs typeface="Times New Roman" panose="02020603050405020304" pitchFamily="18" charset="0"/>
                        </a:rPr>
                        <a:t>Retension</a:t>
                      </a:r>
                      <a:r>
                        <a:rPr lang="en-US" dirty="0">
                          <a:latin typeface="Times New Roman" panose="02020603050405020304" pitchFamily="18" charset="0"/>
                          <a:cs typeface="Times New Roman" panose="02020603050405020304" pitchFamily="18" charset="0"/>
                        </a:rPr>
                        <a:t> rate</a:t>
                      </a:r>
                    </a:p>
                  </a:txBody>
                  <a:tcPr/>
                </a:tc>
                <a:tc>
                  <a:txBody>
                    <a:bodyPr/>
                    <a:lstStyle/>
                    <a:p>
                      <a:r>
                        <a:rPr lang="en-US" dirty="0">
                          <a:latin typeface="Times New Roman" panose="02020603050405020304" pitchFamily="18" charset="0"/>
                          <a:cs typeface="Times New Roman" panose="02020603050405020304" pitchFamily="18" charset="0"/>
                        </a:rPr>
                        <a:t>73.46%</a:t>
                      </a:r>
                    </a:p>
                  </a:txBody>
                  <a:tcPr/>
                </a:tc>
                <a:extLst>
                  <a:ext uri="{0D108BD9-81ED-4DB2-BD59-A6C34878D82A}">
                    <a16:rowId xmlns:a16="http://schemas.microsoft.com/office/drawing/2014/main" val="1558534317"/>
                  </a:ext>
                </a:extLst>
              </a:tr>
              <a:tr h="520897">
                <a:tc>
                  <a:txBody>
                    <a:bodyPr/>
                    <a:lstStyle/>
                    <a:p>
                      <a:r>
                        <a:rPr lang="en-US" dirty="0">
                          <a:latin typeface="Times New Roman" panose="02020603050405020304" pitchFamily="18" charset="0"/>
                          <a:cs typeface="Times New Roman" panose="02020603050405020304" pitchFamily="18" charset="0"/>
                        </a:rPr>
                        <a:t>Gender</a:t>
                      </a:r>
                    </a:p>
                  </a:txBody>
                  <a:tcPr/>
                </a:tc>
                <a:tc>
                  <a:txBody>
                    <a:bodyPr/>
                    <a:lstStyle/>
                    <a:p>
                      <a:r>
                        <a:rPr lang="en-US" dirty="0" err="1">
                          <a:latin typeface="Times New Roman" panose="02020603050405020304" pitchFamily="18" charset="0"/>
                          <a:cs typeface="Times New Roman" panose="02020603050405020304" pitchFamily="18" charset="0"/>
                        </a:rPr>
                        <a:t>Male,female</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0766384"/>
                  </a:ext>
                </a:extLst>
              </a:tr>
              <a:tr h="520897">
                <a:tc>
                  <a:txBody>
                    <a:bodyPr/>
                    <a:lstStyle/>
                    <a:p>
                      <a:r>
                        <a:rPr lang="en-US" dirty="0">
                          <a:latin typeface="Times New Roman" panose="02020603050405020304" pitchFamily="18" charset="0"/>
                          <a:cs typeface="Times New Roman" panose="02020603050405020304" pitchFamily="18" charset="0"/>
                        </a:rPr>
                        <a:t>Internet service type</a:t>
                      </a:r>
                    </a:p>
                  </a:txBody>
                  <a:tcPr/>
                </a:tc>
                <a:tc>
                  <a:txBody>
                    <a:bodyPr/>
                    <a:lstStyle/>
                    <a:p>
                      <a:r>
                        <a:rPr lang="en-US" dirty="0">
                          <a:latin typeface="Times New Roman" panose="02020603050405020304" pitchFamily="18" charset="0"/>
                          <a:cs typeface="Times New Roman" panose="02020603050405020304" pitchFamily="18" charset="0"/>
                        </a:rPr>
                        <a:t>Fiber optic ,</a:t>
                      </a:r>
                      <a:r>
                        <a:rPr lang="en-US" dirty="0" err="1">
                          <a:latin typeface="Times New Roman" panose="02020603050405020304" pitchFamily="18" charset="0"/>
                          <a:cs typeface="Times New Roman" panose="02020603050405020304" pitchFamily="18" charset="0"/>
                        </a:rPr>
                        <a:t>dsl</a:t>
                      </a:r>
                      <a:r>
                        <a:rPr lang="en-US"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741814979"/>
                  </a:ext>
                </a:extLst>
              </a:tr>
              <a:tr h="520897">
                <a:tc>
                  <a:txBody>
                    <a:bodyPr/>
                    <a:lstStyle/>
                    <a:p>
                      <a:r>
                        <a:rPr lang="en-US" dirty="0">
                          <a:latin typeface="Times New Roman" panose="02020603050405020304" pitchFamily="18" charset="0"/>
                          <a:cs typeface="Times New Roman" panose="02020603050405020304" pitchFamily="18" charset="0"/>
                        </a:rPr>
                        <a:t>Payment type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Times New Roman" panose="02020603050405020304" pitchFamily="18" charset="0"/>
                          <a:cs typeface="Times New Roman" panose="02020603050405020304" pitchFamily="18" charset="0"/>
                        </a:rPr>
                        <a:t>Electonic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check,mailed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check,bank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tranfer,credit</a:t>
                      </a:r>
                      <a:r>
                        <a:rPr lang="en-US" dirty="0">
                          <a:latin typeface="Times New Roman" panose="02020603050405020304" pitchFamily="18" charset="0"/>
                          <a:cs typeface="Times New Roman" panose="02020603050405020304" pitchFamily="18" charset="0"/>
                        </a:rPr>
                        <a:t> card</a:t>
                      </a: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392277"/>
                  </a:ext>
                </a:extLst>
              </a:tr>
            </a:tbl>
          </a:graphicData>
        </a:graphic>
      </p:graphicFrame>
    </p:spTree>
    <p:extLst>
      <p:ext uri="{BB962C8B-B14F-4D97-AF65-F5344CB8AC3E}">
        <p14:creationId xmlns:p14="http://schemas.microsoft.com/office/powerpoint/2010/main" val="454693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AB2C2-0364-066F-7913-0F36974FD7B5}"/>
              </a:ext>
            </a:extLst>
          </p:cNvPr>
          <p:cNvSpPr>
            <a:spLocks noGrp="1"/>
          </p:cNvSpPr>
          <p:nvPr>
            <p:ph type="title"/>
          </p:nvPr>
        </p:nvSpPr>
        <p:spPr>
          <a:xfrm>
            <a:off x="1270000" y="711200"/>
            <a:ext cx="9997440" cy="5981134"/>
          </a:xfrm>
        </p:spPr>
        <p:txBody>
          <a:bodyPr>
            <a:normAutofit/>
          </a:bodyPr>
          <a:lstStyle/>
          <a:p>
            <a:pPr algn="l"/>
            <a:r>
              <a:rPr lang="en-US" sz="1800" b="1" dirty="0">
                <a:latin typeface="Times New Roman" panose="02020603050405020304" pitchFamily="18" charset="0"/>
                <a:cs typeface="Times New Roman" panose="02020603050405020304" pitchFamily="18" charset="0"/>
              </a:rPr>
              <a:t>Customer Churn by Gender:</a:t>
            </a:r>
            <a:br>
              <a:rPr lang="en-US" sz="1800" b="1"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Analysis-: </a:t>
            </a: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  1.</a:t>
            </a:r>
            <a:r>
              <a:rPr lang="en-US" sz="1600" dirty="0">
                <a:latin typeface="Times New Roman" panose="02020603050405020304" pitchFamily="18" charset="0"/>
                <a:cs typeface="Times New Roman" panose="02020603050405020304" pitchFamily="18" charset="0"/>
              </a:rPr>
              <a:t>Male and Female churn rates are nearly similar.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2.Gender is not a significant churn driver. </a:t>
            </a:r>
            <a:br>
              <a:rPr lang="en-US" sz="1600"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Business Insight-:</a:t>
            </a: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Retention strategies should focus on behavioral and service-related factors rather than demographic gender segmentation.</a:t>
            </a:r>
            <a:br>
              <a:rPr lang="en-US" sz="1600"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Recommendation</a:t>
            </a: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Avoid gender-based campaigns and focus on service quality improvements.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Customer churn by gender-: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1800" b="1" u="sng" dirty="0">
                <a:latin typeface="Times New Roman" panose="02020603050405020304" pitchFamily="18" charset="0"/>
                <a:cs typeface="Times New Roman" panose="02020603050405020304" pitchFamily="18" charset="0"/>
              </a:rPr>
              <a:t>Analysis: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Senior citizens churn significantly more than other customers.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1800" b="1" u="sng" dirty="0">
                <a:latin typeface="Times New Roman" panose="02020603050405020304" pitchFamily="18" charset="0"/>
                <a:cs typeface="Times New Roman" panose="02020603050405020304" pitchFamily="18" charset="0"/>
              </a:rPr>
              <a:t>Possible Reasons</a:t>
            </a: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      1. </a:t>
            </a:r>
            <a:r>
              <a:rPr lang="en-US" sz="1600" dirty="0">
                <a:latin typeface="Times New Roman" panose="02020603050405020304" pitchFamily="18" charset="0"/>
                <a:cs typeface="Times New Roman" panose="02020603050405020304" pitchFamily="18" charset="0"/>
              </a:rPr>
              <a:t>Difficulty using services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2.Higher price sensitivity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3.poor customer support experience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1800" b="1" u="sng" dirty="0" err="1">
                <a:latin typeface="Times New Roman" panose="02020603050405020304" pitchFamily="18" charset="0"/>
                <a:cs typeface="Times New Roman" panose="02020603050405020304" pitchFamily="18" charset="0"/>
              </a:rPr>
              <a:t>Recommdation</a:t>
            </a:r>
            <a:r>
              <a:rPr lang="en-US" sz="1800" b="1" u="sng"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 Dedicated support team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b.Senior</a:t>
            </a:r>
            <a:r>
              <a:rPr lang="en-US" sz="1600" dirty="0">
                <a:latin typeface="Times New Roman" panose="02020603050405020304" pitchFamily="18" charset="0"/>
                <a:cs typeface="Times New Roman" panose="02020603050405020304" pitchFamily="18" charset="0"/>
              </a:rPr>
              <a:t>-friendly plans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c.Simplified</a:t>
            </a:r>
            <a:r>
              <a:rPr lang="en-US" sz="1600" dirty="0">
                <a:latin typeface="Times New Roman" panose="02020603050405020304" pitchFamily="18" charset="0"/>
                <a:cs typeface="Times New Roman" panose="02020603050405020304" pitchFamily="18" charset="0"/>
              </a:rPr>
              <a:t> billing process</a:t>
            </a:r>
            <a:br>
              <a:rPr lang="en-US" sz="1600" dirty="0">
                <a:latin typeface="Times New Roman" panose="02020603050405020304" pitchFamily="18" charset="0"/>
                <a:cs typeface="Times New Roman" panose="02020603050405020304" pitchFamily="18" charset="0"/>
              </a:rPr>
            </a:br>
            <a:br>
              <a:rPr lang="en-US" dirty="0"/>
            </a:br>
            <a:endParaRPr lang="en-US" dirty="0"/>
          </a:p>
        </p:txBody>
      </p:sp>
      <p:sp>
        <p:nvSpPr>
          <p:cNvPr id="3" name="Text Placeholder 2">
            <a:extLst>
              <a:ext uri="{FF2B5EF4-FFF2-40B4-BE49-F238E27FC236}">
                <a16:creationId xmlns:a16="http://schemas.microsoft.com/office/drawing/2014/main" id="{D2A2EBC3-5AEC-16E3-685F-677BFBF48FF8}"/>
              </a:ext>
            </a:extLst>
          </p:cNvPr>
          <p:cNvSpPr>
            <a:spLocks noGrp="1"/>
          </p:cNvSpPr>
          <p:nvPr>
            <p:ph type="body" idx="1"/>
          </p:nvPr>
        </p:nvSpPr>
        <p:spPr>
          <a:xfrm>
            <a:off x="2387888" y="165666"/>
            <a:ext cx="7791931" cy="545534"/>
          </a:xfrm>
        </p:spPr>
        <p:txBody>
          <a:bodyPr>
            <a:normAutofit lnSpcReduction="10000"/>
          </a:bodyPr>
          <a:lstStyle/>
          <a:p>
            <a:pPr algn="ctr"/>
            <a:r>
              <a:rPr lang="en-US" sz="3200" b="1" dirty="0">
                <a:latin typeface="Times New Roman" panose="02020603050405020304" pitchFamily="18" charset="0"/>
                <a:cs typeface="Times New Roman" panose="02020603050405020304" pitchFamily="18" charset="0"/>
              </a:rPr>
              <a:t>Analysis Report</a:t>
            </a:r>
          </a:p>
        </p:txBody>
      </p:sp>
    </p:spTree>
    <p:extLst>
      <p:ext uri="{BB962C8B-B14F-4D97-AF65-F5344CB8AC3E}">
        <p14:creationId xmlns:p14="http://schemas.microsoft.com/office/powerpoint/2010/main" val="303668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88DE6-04D0-9413-752C-CE3AA9CB2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31E9F-8A8E-8175-6ABC-3B1CC4D7A50F}"/>
              </a:ext>
            </a:extLst>
          </p:cNvPr>
          <p:cNvSpPr>
            <a:spLocks noGrp="1"/>
          </p:cNvSpPr>
          <p:nvPr>
            <p:ph type="title"/>
          </p:nvPr>
        </p:nvSpPr>
        <p:spPr>
          <a:xfrm>
            <a:off x="1270000" y="711200"/>
            <a:ext cx="9997440" cy="5981134"/>
          </a:xfrm>
        </p:spPr>
        <p:txBody>
          <a:bodyPr>
            <a:normAutofit fontScale="90000"/>
          </a:bodyPr>
          <a:lstStyle/>
          <a:p>
            <a:pPr algn="l"/>
            <a:r>
              <a:rPr lang="en-US" sz="2200" b="1" dirty="0">
                <a:latin typeface="Times New Roman" panose="02020603050405020304" pitchFamily="18" charset="0"/>
                <a:cs typeface="Times New Roman" panose="02020603050405020304" pitchFamily="18" charset="0"/>
              </a:rPr>
              <a:t>Customer Churn by Contract Type-:</a:t>
            </a:r>
            <a:br>
              <a:rPr lang="en-US" sz="1800" dirty="0">
                <a:latin typeface="Times New Roman" panose="02020603050405020304" pitchFamily="18" charset="0"/>
                <a:cs typeface="Times New Roman" panose="02020603050405020304" pitchFamily="18" charset="0"/>
              </a:rPr>
            </a:br>
            <a:r>
              <a:rPr lang="en-US" sz="2000" b="1" u="sng" dirty="0">
                <a:latin typeface="Times New Roman" panose="02020603050405020304" pitchFamily="18" charset="0"/>
                <a:cs typeface="Times New Roman" panose="02020603050405020304" pitchFamily="18" charset="0"/>
              </a:rPr>
              <a:t>Analysis-: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Month-to-Month customers account for almost all churn</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000" b="1" u="sng" dirty="0">
                <a:latin typeface="Times New Roman" panose="02020603050405020304" pitchFamily="18" charset="0"/>
                <a:cs typeface="Times New Roman" panose="02020603050405020304" pitchFamily="18" charset="0"/>
              </a:rPr>
              <a:t>Business Impact</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Customers with longer contracts demonstrate stronger loyalty.</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000" b="1" u="sng" dirty="0">
                <a:latin typeface="Times New Roman" panose="02020603050405020304" pitchFamily="18" charset="0"/>
                <a:cs typeface="Times New Roman" panose="02020603050405020304" pitchFamily="18" charset="0"/>
              </a:rPr>
              <a:t>Recommendation</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Offer discounts for annual subscriptions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2.Loyalty rewards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3.Contract upgrade campaigns</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Customer Churn by Internet Service-:</a:t>
            </a:r>
            <a:br>
              <a:rPr lang="en-US" sz="1800" dirty="0">
                <a:latin typeface="Times New Roman" panose="02020603050405020304" pitchFamily="18" charset="0"/>
                <a:cs typeface="Times New Roman" panose="02020603050405020304" pitchFamily="18" charset="0"/>
              </a:rPr>
            </a:br>
            <a:r>
              <a:rPr lang="en-US" sz="2000" b="1" u="sng" dirty="0">
                <a:latin typeface="Times New Roman" panose="02020603050405020304" pitchFamily="18" charset="0"/>
                <a:cs typeface="Times New Roman" panose="02020603050405020304" pitchFamily="18" charset="0"/>
              </a:rPr>
              <a:t>Analysis-: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Fiber Optic customers have the highest churn.</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000" b="1" u="sng" dirty="0">
                <a:latin typeface="Times New Roman" panose="02020603050405020304" pitchFamily="18" charset="0"/>
                <a:cs typeface="Times New Roman" panose="02020603050405020304" pitchFamily="18" charset="0"/>
              </a:rPr>
              <a:t>Possible Reasons</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Pricing issues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2.Service quality concerns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3.Customer expectations not being met</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000" b="1" u="sng" dirty="0">
                <a:latin typeface="Times New Roman" panose="02020603050405020304" pitchFamily="18" charset="0"/>
                <a:cs typeface="Times New Roman" panose="02020603050405020304" pitchFamily="18" charset="0"/>
              </a:rPr>
              <a:t>Recommendation</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Review Fiber pricing strategy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2.Improve network performance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3.Conduct customer satisfaction surveys </a:t>
            </a:r>
            <a:br>
              <a:rPr lang="en-US" sz="1600" dirty="0"/>
            </a:br>
            <a:br>
              <a:rPr lang="en-US" sz="1600" dirty="0"/>
            </a:br>
            <a:br>
              <a:rPr lang="en-US" dirty="0"/>
            </a:br>
            <a:endParaRPr lang="en-US" dirty="0"/>
          </a:p>
        </p:txBody>
      </p:sp>
      <p:sp>
        <p:nvSpPr>
          <p:cNvPr id="3" name="Text Placeholder 2">
            <a:extLst>
              <a:ext uri="{FF2B5EF4-FFF2-40B4-BE49-F238E27FC236}">
                <a16:creationId xmlns:a16="http://schemas.microsoft.com/office/drawing/2014/main" id="{0D7FD182-9AAC-8DDF-C986-F5570C5F4CF5}"/>
              </a:ext>
            </a:extLst>
          </p:cNvPr>
          <p:cNvSpPr>
            <a:spLocks noGrp="1"/>
          </p:cNvSpPr>
          <p:nvPr>
            <p:ph type="body" idx="1"/>
          </p:nvPr>
        </p:nvSpPr>
        <p:spPr>
          <a:xfrm>
            <a:off x="2387888" y="165666"/>
            <a:ext cx="7791931" cy="545534"/>
          </a:xfrm>
        </p:spPr>
        <p:txBody>
          <a:bodyPr>
            <a:normAutofit lnSpcReduction="10000"/>
          </a:bodyPr>
          <a:lstStyle/>
          <a:p>
            <a:pPr algn="ctr"/>
            <a:r>
              <a:rPr lang="en-US" sz="3200" b="1" dirty="0">
                <a:latin typeface="Times New Roman" panose="02020603050405020304" pitchFamily="18" charset="0"/>
                <a:cs typeface="Times New Roman" panose="02020603050405020304" pitchFamily="18" charset="0"/>
              </a:rPr>
              <a:t>Analysis Report</a:t>
            </a:r>
          </a:p>
        </p:txBody>
      </p:sp>
    </p:spTree>
    <p:extLst>
      <p:ext uri="{BB962C8B-B14F-4D97-AF65-F5344CB8AC3E}">
        <p14:creationId xmlns:p14="http://schemas.microsoft.com/office/powerpoint/2010/main" val="438196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B3037-2B78-4AF3-79A2-EBAC74418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8EF99-772E-11A0-B929-D620AACEED09}"/>
              </a:ext>
            </a:extLst>
          </p:cNvPr>
          <p:cNvSpPr>
            <a:spLocks noGrp="1"/>
          </p:cNvSpPr>
          <p:nvPr>
            <p:ph type="title"/>
          </p:nvPr>
        </p:nvSpPr>
        <p:spPr>
          <a:xfrm>
            <a:off x="1270000" y="711200"/>
            <a:ext cx="9997440" cy="5981134"/>
          </a:xfrm>
        </p:spPr>
        <p:txBody>
          <a:bodyPr>
            <a:normAutofit/>
          </a:bodyPr>
          <a:lstStyle/>
          <a:p>
            <a:pPr algn="l">
              <a:tabLst>
                <a:tab pos="5770563" algn="l"/>
              </a:tabLst>
            </a:pPr>
            <a:r>
              <a:rPr lang="en-US" sz="2000" b="1" dirty="0">
                <a:latin typeface="Times New Roman" panose="02020603050405020304" pitchFamily="18" charset="0"/>
                <a:cs typeface="Times New Roman" panose="02020603050405020304" pitchFamily="18" charset="0"/>
              </a:rPr>
              <a:t>Customer Churn by payment Type-:</a:t>
            </a:r>
            <a:br>
              <a:rPr lang="en-US" sz="1600"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Analysis-: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Electronic Check customers are the most likely to churn.</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Recommendation</a:t>
            </a: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1.</a:t>
            </a:r>
            <a:r>
              <a:rPr lang="en-US" sz="1600" dirty="0">
                <a:latin typeface="Times New Roman" panose="02020603050405020304" pitchFamily="18" charset="0"/>
                <a:cs typeface="Times New Roman" panose="02020603050405020304" pitchFamily="18" charset="0"/>
              </a:rPr>
              <a:t>Encourage automatic payments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2.Offer cashback incentives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3. Simplify billing procedures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Tenure Analysis-:</a:t>
            </a:r>
            <a:br>
              <a:rPr lang="en-US" sz="1600"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Analysis-: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Customers are most vulnerable during their first year</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800" b="1" u="sng" dirty="0" err="1">
                <a:latin typeface="Times New Roman" panose="02020603050405020304" pitchFamily="18" charset="0"/>
                <a:cs typeface="Times New Roman" panose="02020603050405020304" pitchFamily="18" charset="0"/>
              </a:rPr>
              <a:t>Buisness</a:t>
            </a:r>
            <a:r>
              <a:rPr lang="en-US" sz="1800" b="1" u="sng" dirty="0">
                <a:latin typeface="Times New Roman" panose="02020603050405020304" pitchFamily="18" charset="0"/>
                <a:cs typeface="Times New Roman" panose="02020603050405020304" pitchFamily="18" charset="0"/>
              </a:rPr>
              <a:t> Insight-:</a:t>
            </a:r>
            <a:br>
              <a:rPr lang="en-US" sz="1800" b="1" u="sng"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Reducing early churn will significantly improve customer lifetime value</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800" b="1" u="sng" dirty="0">
                <a:latin typeface="Times New Roman" panose="02020603050405020304" pitchFamily="18" charset="0"/>
                <a:cs typeface="Times New Roman" panose="02020603050405020304" pitchFamily="18" charset="0"/>
              </a:rPr>
              <a:t>Recommendation</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Implement a customer onboarding and engagement program during the first 12 months</a:t>
            </a:r>
            <a:br>
              <a:rPr lang="en-US" sz="1600" dirty="0"/>
            </a:br>
            <a:br>
              <a:rPr lang="en-US" dirty="0"/>
            </a:br>
            <a:endParaRPr lang="en-US" dirty="0"/>
          </a:p>
        </p:txBody>
      </p:sp>
      <p:sp>
        <p:nvSpPr>
          <p:cNvPr id="3" name="Text Placeholder 2">
            <a:extLst>
              <a:ext uri="{FF2B5EF4-FFF2-40B4-BE49-F238E27FC236}">
                <a16:creationId xmlns:a16="http://schemas.microsoft.com/office/drawing/2014/main" id="{6237D810-F740-17C0-C70F-794F30649275}"/>
              </a:ext>
            </a:extLst>
          </p:cNvPr>
          <p:cNvSpPr>
            <a:spLocks noGrp="1"/>
          </p:cNvSpPr>
          <p:nvPr>
            <p:ph type="body" idx="1"/>
          </p:nvPr>
        </p:nvSpPr>
        <p:spPr>
          <a:xfrm>
            <a:off x="2387888" y="165666"/>
            <a:ext cx="7791931" cy="545534"/>
          </a:xfrm>
        </p:spPr>
        <p:txBody>
          <a:bodyPr>
            <a:normAutofit lnSpcReduction="10000"/>
          </a:bodyPr>
          <a:lstStyle/>
          <a:p>
            <a:pPr algn="ctr"/>
            <a:r>
              <a:rPr lang="en-US" sz="3200" b="1" dirty="0">
                <a:latin typeface="Times New Roman" panose="02020603050405020304" pitchFamily="18" charset="0"/>
                <a:cs typeface="Times New Roman" panose="02020603050405020304" pitchFamily="18" charset="0"/>
              </a:rPr>
              <a:t>Analysis Report</a:t>
            </a:r>
          </a:p>
        </p:txBody>
      </p:sp>
    </p:spTree>
    <p:extLst>
      <p:ext uri="{BB962C8B-B14F-4D97-AF65-F5344CB8AC3E}">
        <p14:creationId xmlns:p14="http://schemas.microsoft.com/office/powerpoint/2010/main" val="1150254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C00C6-3F63-B8B7-38A9-BD9749F59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4B4BC-0273-0065-DDBF-DA79E75DF2F5}"/>
              </a:ext>
            </a:extLst>
          </p:cNvPr>
          <p:cNvSpPr>
            <a:spLocks noGrp="1"/>
          </p:cNvSpPr>
          <p:nvPr>
            <p:ph type="title"/>
          </p:nvPr>
        </p:nvSpPr>
        <p:spPr>
          <a:xfrm>
            <a:off x="1270000" y="711200"/>
            <a:ext cx="9997440" cy="5981134"/>
          </a:xfrm>
        </p:spPr>
        <p:txBody>
          <a:bodyPr>
            <a:normAutofit/>
          </a:bodyPr>
          <a:lstStyle/>
          <a:p>
            <a:pPr algn="l"/>
            <a:r>
              <a:rPr lang="en-US" sz="2000" b="1" dirty="0" err="1">
                <a:latin typeface="Times New Roman" panose="02020603050405020304" pitchFamily="18" charset="0"/>
                <a:cs typeface="Times New Roman" panose="02020603050405020304" pitchFamily="18" charset="0"/>
              </a:rPr>
              <a:t>A.Short</a:t>
            </a:r>
            <a:r>
              <a:rPr lang="en-US" sz="2000" b="1" dirty="0">
                <a:latin typeface="Times New Roman" panose="02020603050405020304" pitchFamily="18" charset="0"/>
                <a:cs typeface="Times New Roman" panose="02020603050405020304" pitchFamily="18" charset="0"/>
              </a:rPr>
              <a:t>-Term Actions</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1.</a:t>
            </a:r>
            <a:r>
              <a:rPr lang="en-US" sz="2000" dirty="0">
                <a:latin typeface="Times New Roman" panose="02020603050405020304" pitchFamily="18" charset="0"/>
                <a:cs typeface="Times New Roman" panose="02020603050405020304" pitchFamily="18" charset="0"/>
              </a:rPr>
              <a:t>Target high-risk customers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2.Improve customer support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3.Promote annual contracts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4.Incentivize auto-payments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B.</a:t>
            </a:r>
            <a:r>
              <a:rPr lang="en-US" sz="2000" b="1" dirty="0" err="1">
                <a:latin typeface="Times New Roman" panose="02020603050405020304" pitchFamily="18" charset="0"/>
                <a:cs typeface="Times New Roman" panose="02020603050405020304" pitchFamily="18" charset="0"/>
              </a:rPr>
              <a:t>Medium</a:t>
            </a:r>
            <a:r>
              <a:rPr lang="en-US" sz="2000" b="1" dirty="0">
                <a:latin typeface="Times New Roman" panose="02020603050405020304" pitchFamily="18" charset="0"/>
                <a:cs typeface="Times New Roman" panose="02020603050405020304" pitchFamily="18" charset="0"/>
              </a:rPr>
              <a:t>-Term Actions</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1.</a:t>
            </a:r>
            <a:r>
              <a:rPr lang="en-US" sz="2000" dirty="0">
                <a:latin typeface="Times New Roman" panose="02020603050405020304" pitchFamily="18" charset="0"/>
                <a:cs typeface="Times New Roman" panose="02020603050405020304" pitchFamily="18" charset="0"/>
              </a:rPr>
              <a:t>Improve Fiber service quality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2.Launch retention campaigns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3.Create loyalty programs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C.</a:t>
            </a:r>
            <a:r>
              <a:rPr lang="en-US" sz="2000" b="1" dirty="0" err="1">
                <a:latin typeface="Times New Roman" panose="02020603050405020304" pitchFamily="18" charset="0"/>
                <a:cs typeface="Times New Roman" panose="02020603050405020304" pitchFamily="18" charset="0"/>
              </a:rPr>
              <a:t>Long</a:t>
            </a:r>
            <a:r>
              <a:rPr lang="en-US" sz="2000" b="1" dirty="0">
                <a:latin typeface="Times New Roman" panose="02020603050405020304" pitchFamily="18" charset="0"/>
                <a:cs typeface="Times New Roman" panose="02020603050405020304" pitchFamily="18" charset="0"/>
              </a:rPr>
              <a:t>-Term Actions</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1. </a:t>
            </a:r>
            <a:r>
              <a:rPr lang="en-US" sz="2000" dirty="0">
                <a:latin typeface="Times New Roman" panose="02020603050405020304" pitchFamily="18" charset="0"/>
                <a:cs typeface="Times New Roman" panose="02020603050405020304" pitchFamily="18" charset="0"/>
              </a:rPr>
              <a:t>Build predictive churn models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    2. implement customer segmentation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3.Develop personalized offers </a:t>
            </a:r>
            <a:br>
              <a:rPr lang="en-US" sz="2000" dirty="0">
                <a:latin typeface="Times New Roman" panose="02020603050405020304" pitchFamily="18" charset="0"/>
                <a:cs typeface="Times New Roman" panose="02020603050405020304" pitchFamily="18" charset="0"/>
              </a:rPr>
            </a:br>
            <a:br>
              <a:rPr lang="en-US" dirty="0"/>
            </a:br>
            <a:endParaRPr lang="en-US" dirty="0"/>
          </a:p>
        </p:txBody>
      </p:sp>
      <p:sp>
        <p:nvSpPr>
          <p:cNvPr id="3" name="Text Placeholder 2">
            <a:extLst>
              <a:ext uri="{FF2B5EF4-FFF2-40B4-BE49-F238E27FC236}">
                <a16:creationId xmlns:a16="http://schemas.microsoft.com/office/drawing/2014/main" id="{E388A089-DEA9-4CFF-EC1D-AEFAFCB2426F}"/>
              </a:ext>
            </a:extLst>
          </p:cNvPr>
          <p:cNvSpPr>
            <a:spLocks noGrp="1"/>
          </p:cNvSpPr>
          <p:nvPr>
            <p:ph type="body" idx="1"/>
          </p:nvPr>
        </p:nvSpPr>
        <p:spPr>
          <a:xfrm>
            <a:off x="2387888" y="165666"/>
            <a:ext cx="7791931" cy="545534"/>
          </a:xfrm>
        </p:spPr>
        <p:txBody>
          <a:bodyPr>
            <a:normAutofit lnSpcReduction="10000"/>
          </a:bodyPr>
          <a:lstStyle/>
          <a:p>
            <a:pPr algn="ctr"/>
            <a:r>
              <a:rPr lang="en-US" sz="3200" b="1" dirty="0" err="1">
                <a:latin typeface="Times New Roman" panose="02020603050405020304" pitchFamily="18" charset="0"/>
                <a:cs typeface="Times New Roman" panose="02020603050405020304" pitchFamily="18" charset="0"/>
              </a:rPr>
              <a:t>Statergic</a:t>
            </a:r>
            <a:r>
              <a:rPr lang="en-US" sz="3200" b="1" dirty="0">
                <a:latin typeface="Times New Roman" panose="02020603050405020304" pitchFamily="18" charset="0"/>
                <a:cs typeface="Times New Roman" panose="02020603050405020304" pitchFamily="18" charset="0"/>
              </a:rPr>
              <a:t> recommendation</a:t>
            </a:r>
          </a:p>
        </p:txBody>
      </p:sp>
    </p:spTree>
    <p:extLst>
      <p:ext uri="{BB962C8B-B14F-4D97-AF65-F5344CB8AC3E}">
        <p14:creationId xmlns:p14="http://schemas.microsoft.com/office/powerpoint/2010/main" val="2336735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CBC5A-A33F-D373-8717-17C093E36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8A6B5-6518-D46A-2115-E4EE130324CE}"/>
              </a:ext>
            </a:extLst>
          </p:cNvPr>
          <p:cNvSpPr>
            <a:spLocks noGrp="1"/>
          </p:cNvSpPr>
          <p:nvPr>
            <p:ph type="title"/>
          </p:nvPr>
        </p:nvSpPr>
        <p:spPr>
          <a:xfrm>
            <a:off x="1270000" y="711200"/>
            <a:ext cx="9997440" cy="5981134"/>
          </a:xfrm>
        </p:spPr>
        <p:txBody>
          <a:bodyPr>
            <a:normAutofit fontScale="90000"/>
          </a:bodyPr>
          <a:lstStyle/>
          <a:p>
            <a:pPr algn="l"/>
            <a:r>
              <a:rPr lang="en-US" sz="1800" dirty="0">
                <a:latin typeface="Times New Roman" panose="02020603050405020304" pitchFamily="18" charset="0"/>
                <a:cs typeface="Times New Roman" panose="02020603050405020304" pitchFamily="18" charset="0"/>
              </a:rPr>
              <a:t>The Telco Customer Churn Analysis reveals that the company is experiencing a churn rate of 26.54%, with 1,869 customers leaving out of 7,043 total customers, creating a significant impact on recurring revenue and long-term profitability. The analysis identified several key factors contributing to customer churn, including Month-to-Month contracts, Fiber Optic internet services, Electronic Check payment methods, high monthly charges, senior citizen customers, and customers with low tenure. Among these, Month-to-Month contract customers and newly acquired customers showed the highest likelihood of churn, indicating that customer commitment and early customer experience play a crucial role in retention.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findings suggest that customer churn is driven not only by pricing but also by contract flexibility, service quality, payment behavior, and customer engagement Customers enrolled in long-term contracts demonstrate significantly higher loyalty, while customers using automatic payment methods show lower churn rates. Additionally, the high churn observed among Fiber Optic users indicates potential concerns regarding service quality, pricing, or customer expectations that require immediate attention.</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Based on these insights, the company should prioritize targeted retention strategies such as promoting long-term contracts through discounts and loyalty programs, encouraging AutoPay adoption, improving Fiber Optic service quality, enhancing customer onboarding during the first year, and providing dedicated support for senior citizens. Furthermore, implementing predictive churn analytics can help proactively identify at-risk customers and enable timely intervention before they leave.</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By focusing on these strategic initiatives, the organization can significantly reduce customer attrition, improve customer satisfaction, increase customer lifetime value, protect recurring revenue streams, and strengthen its competitive position in the telecom market. Even a modest reduction in churn can result in substantial financial gains, making customer retention a critical driver of sustainable business growth and profitability.</a:t>
            </a:r>
            <a:br>
              <a:rPr lang="en-US" sz="1800" dirty="0"/>
            </a:br>
            <a:br>
              <a:rPr lang="en-US" sz="1800" dirty="0"/>
            </a:br>
            <a:br>
              <a:rPr lang="en-US" dirty="0"/>
            </a:br>
            <a:endParaRPr lang="en-US" dirty="0"/>
          </a:p>
        </p:txBody>
      </p:sp>
      <p:sp>
        <p:nvSpPr>
          <p:cNvPr id="3" name="Text Placeholder 2">
            <a:extLst>
              <a:ext uri="{FF2B5EF4-FFF2-40B4-BE49-F238E27FC236}">
                <a16:creationId xmlns:a16="http://schemas.microsoft.com/office/drawing/2014/main" id="{43D6DFF4-8F42-9430-45E7-46C40B323859}"/>
              </a:ext>
            </a:extLst>
          </p:cNvPr>
          <p:cNvSpPr>
            <a:spLocks noGrp="1"/>
          </p:cNvSpPr>
          <p:nvPr>
            <p:ph type="body" idx="1"/>
          </p:nvPr>
        </p:nvSpPr>
        <p:spPr>
          <a:xfrm>
            <a:off x="2387888" y="165666"/>
            <a:ext cx="7791931" cy="545534"/>
          </a:xfrm>
        </p:spPr>
        <p:txBody>
          <a:bodyPr>
            <a:normAutofit lnSpcReduction="10000"/>
          </a:bodyPr>
          <a:lstStyle/>
          <a:p>
            <a:pPr algn="ctr"/>
            <a:r>
              <a:rPr lang="en-US" sz="32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8049789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{C5395E20-615C-46DC-8489-062A1B15EB32}TF37254b02-f5b5-44b0-803d-e6af9466a024d8712c6d-28d3f990fef7</Template>
  <TotalTime>1059</TotalTime>
  <Words>1001</Words>
  <Application>Microsoft Office PowerPoint</Application>
  <PresentationFormat>Widescreen</PresentationFormat>
  <Paragraphs>33</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MS Shell Dlg 2</vt:lpstr>
      <vt:lpstr>Times New Roman</vt:lpstr>
      <vt:lpstr>Wingdings</vt:lpstr>
      <vt:lpstr>Wingdings 3</vt:lpstr>
      <vt:lpstr>Madison</vt:lpstr>
      <vt:lpstr>Telco Customer Churn Analysis Dashboard</vt:lpstr>
      <vt:lpstr>                                                 Buisness Problem  The telecom industry faces intense competition, making customer retention a critical factor for sustained growth and profitability. Acquiring new customers is significantly more expensive than retaining existing ones. Therefore, understanding why customers leave the company (customer churn) is essential for improving business performance. Problem Statement The company is experiencing a customer churn rate of 26.54%, meaning that a substantial portion of customers are discontinuing services. This customer loss directly impacts revenue, customer lifetime value, and overall business growth. Management lacks clear visibility into:   1.Which customer segments are most likely to churn.   2.What factors influence customer attrition.    3.How customer demographics, contract types, payment methods, tenure, and service usage affect churn behavior.    4.What actions can be implemented to improve customer retention. </vt:lpstr>
      <vt:lpstr>PowerPoint Presentation</vt:lpstr>
      <vt:lpstr>Customer Churn by Gender: Analysis-:    1.Male and Female churn rates are nearly similar.    2.Gender is not a significant churn driver.  Business Insight-:    Retention strategies should focus on behavioral and service-related factors rather than demographic gender segmentation. Recommendation     Avoid gender-based campaigns and focus on service quality improvements.  Customer churn by gender-:     Analysis:     Senior citizens churn significantly more than other customers.     Possible Reasons       1. Difficulty using services          2.Higher price sensitivity         3.poor customer support experience       Recommdation-:         a. Dedicated support team         b.Senior-friendly plans         c.Simplified billing process  </vt:lpstr>
      <vt:lpstr>Customer Churn by Contract Type-: Analysis-: Month-to-Month customers account for almost all churn  Business Impact Customers with longer contracts demonstrate stronger loyalty.  Recommendation 1.Offer discounts for annual subscriptions  2.Loyalty rewards  3.Contract upgrade campaigns   Customer Churn by Internet Service-: Analysis-: Fiber Optic customers have the highest churn.  Possible Reasons 1.Pricing issues  2.Service quality concerns  3.Customer expectations not being met  Recommendation 1.Review Fiber pricing strategy  2.Improve network performance  3.Conduct customer satisfaction surveys    </vt:lpstr>
      <vt:lpstr>Customer Churn by payment Type-: Analysis-: Electronic Check customers are the most likely to churn.  Recommendation 1.Encourage automatic payments 2.Offer cashback incentives 3. Simplify billing procedures   Tenure Analysis-: Analysis-: Customers are most vulnerable during their first year  Buisness Insight-: Reducing early churn will significantly improve customer lifetime value  Recommendation Implement a customer onboarding and engagement program during the first 12 months  </vt:lpstr>
      <vt:lpstr>A.Short-Term Actions     1.Target high-risk customers       2.Improve customer support      3.Promote annual contracts      4.Incentivize auto-payments    B.Medium-Term Actions     1.Improve Fiber service quality      2.Launch retention campaigns      3.Create loyalty programs   C.Long-Term Actions      1. Build predictive churn models  I    2. implement customer segmentation       3.Develop personalized offers   </vt:lpstr>
      <vt:lpstr>The Telco Customer Churn Analysis reveals that the company is experiencing a churn rate of 26.54%, with 1,869 customers leaving out of 7,043 total customers, creating a significant impact on recurring revenue and long-term profitability. The analysis identified several key factors contributing to customer churn, including Month-to-Month contracts, Fiber Optic internet services, Electronic Check payment methods, high monthly charges, senior citizen customers, and customers with low tenure. Among these, Month-to-Month contract customers and newly acquired customers showed the highest likelihood of churn, indicating that customer commitment and early customer experience play a crucial role in retention. The findings suggest that customer churn is driven not only by pricing but also by contract flexibility, service quality, payment behavior, and customer engagement Customers enrolled in long-term contracts demonstrate significantly higher loyalty, while customers using automatic payment methods show lower churn rates. Additionally, the high churn observed among Fiber Optic users indicates potential concerns regarding service quality, pricing, or customer expectations that require immediate attention.  Based on these insights, the company should prioritize targeted retention strategies such as promoting long-term contracts through discounts and loyalty programs, encouraging AutoPay adoption, improving Fiber Optic service quality, enhancing customer onboarding during the first year, and providing dedicated support for senior citizens. Furthermore, implementing predictive churn analytics can help proactively identify at-risk customers and enable timely intervention before they leave.  By focusing on these strategic initiatives, the organization can significantly reduce customer attrition, improve customer satisfaction, increase customer lifetime value, protect recurring revenue streams, and strengthen its competitive position in the telecom market. Even a modest reduction in churn can result in substantial financial gains, making customer retention a critical driver of sustainable business growth and profitability.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chandane</dc:creator>
  <cp:lastModifiedBy>sahil chandane</cp:lastModifiedBy>
  <cp:revision>2</cp:revision>
  <dcterms:created xsi:type="dcterms:W3CDTF">2026-06-18T15:09:01Z</dcterms:created>
  <dcterms:modified xsi:type="dcterms:W3CDTF">2026-06-24T08:42:06Z</dcterms:modified>
</cp:coreProperties>
</file>